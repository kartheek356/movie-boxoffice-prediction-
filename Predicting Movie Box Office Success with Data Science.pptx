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nva Sans Bold" panose="020B0604020202020204" charset="0"/>
      <p:regular r:id="rId22"/>
    </p:embeddedFont>
    <p:embeddedFont>
      <p:font typeface="Garet" panose="020B0604020202020204" charset="0"/>
      <p:regular r:id="rId23"/>
    </p:embeddedFont>
    <p:embeddedFont>
      <p:font typeface="Garet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3576" autoAdjust="0"/>
  </p:normalViewPr>
  <p:slideViewPr>
    <p:cSldViewPr>
      <p:cViewPr varScale="1">
        <p:scale>
          <a:sx n="44" d="100"/>
          <a:sy n="44" d="100"/>
        </p:scale>
        <p:origin x="133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DF137-612D-4EC4-A0FC-E528F510478B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923E3-BC63-4C26-B35D-60ED04DB2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27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guys my ML project Idea is to (read Slide )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607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Can we predict a movie’s box office success before it even hits theaters?</a:t>
            </a:r>
            <a:endParaRPr lang="en-US" dirty="0"/>
          </a:p>
          <a:p>
            <a:r>
              <a:rPr lang="en-US" dirty="0"/>
              <a:t>In the movie industry, success is famously unpredictable.</a:t>
            </a:r>
            <a:br>
              <a:rPr lang="en-US" dirty="0"/>
            </a:br>
            <a:r>
              <a:rPr lang="en-US" dirty="0"/>
              <a:t>Big budgets, famous actors, huge directors — sometimes even those don’t guarantee a hit.</a:t>
            </a:r>
            <a:br>
              <a:rPr lang="en-US" dirty="0"/>
            </a:br>
            <a:r>
              <a:rPr lang="en-US" dirty="0"/>
              <a:t>At the same time, small movies with almost no budget sometimes surprise everyone and become blockbusters.</a:t>
            </a:r>
          </a:p>
          <a:p>
            <a:r>
              <a:rPr lang="en-US" dirty="0"/>
              <a:t>So why does this matter?</a:t>
            </a:r>
            <a:br>
              <a:rPr lang="en-US" dirty="0"/>
            </a:br>
            <a:r>
              <a:rPr lang="en-US" dirty="0"/>
              <a:t>Because being able to predict a movie’s success could save studios millions of dollars.</a:t>
            </a:r>
            <a:br>
              <a:rPr lang="en-US" dirty="0"/>
            </a:br>
            <a:r>
              <a:rPr lang="en-US" dirty="0"/>
              <a:t>It could help streaming platforms decide what to buy.</a:t>
            </a:r>
            <a:br>
              <a:rPr lang="en-US" dirty="0"/>
            </a:br>
            <a:r>
              <a:rPr lang="en-US" dirty="0"/>
              <a:t>It could help theaters plan what to show and when.</a:t>
            </a:r>
            <a:br>
              <a:rPr lang="en-US" dirty="0"/>
            </a:br>
            <a:r>
              <a:rPr lang="en-US" dirty="0"/>
              <a:t>In short — prediction could change the business of entertainment.</a:t>
            </a:r>
          </a:p>
          <a:p>
            <a:r>
              <a:rPr lang="en-US" dirty="0"/>
              <a:t>Today, I'll walk you through how we approached this problem using data science — in a way that even non-technical audiences can understand.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702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🎯 Goals of the Research (~2–3 minutes)</a:t>
            </a:r>
          </a:p>
          <a:p>
            <a:r>
              <a:rPr lang="en-US" dirty="0"/>
              <a:t>The goal of our project was simple but ambitious:</a:t>
            </a:r>
          </a:p>
          <a:p>
            <a:r>
              <a:rPr lang="en-US" dirty="0"/>
              <a:t>👉 </a:t>
            </a:r>
            <a:r>
              <a:rPr lang="en-US" b="1" dirty="0"/>
              <a:t>Predict a movie’s box office revenue before it releases</a:t>
            </a:r>
            <a:r>
              <a:rPr lang="en-US" dirty="0"/>
              <a:t>, based only on information available early — like its genre, budget, cast, and release date.</a:t>
            </a:r>
          </a:p>
          <a:p>
            <a:r>
              <a:rPr lang="en-US" dirty="0"/>
              <a:t>We wanted to answer: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factors</a:t>
            </a:r>
            <a:r>
              <a:rPr lang="en-US" dirty="0"/>
              <a:t> really drive movie success?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Can we build models</a:t>
            </a:r>
            <a:r>
              <a:rPr lang="en-US" dirty="0"/>
              <a:t> that predict box office performance early enough to make a difference?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Who benefits?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Studios: for better budget planning.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Marketers: for smarter promotional strategies.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Streaming platforms: for better content acquisitions.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Theaters: for more profitable scheduling.</a:t>
            </a:r>
          </a:p>
          <a:p>
            <a:r>
              <a:rPr lang="en-US" dirty="0"/>
              <a:t>If we could find patterns early, every major player in the entertainment ecosystem could make more informed, smarter decisions.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284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started with </a:t>
            </a:r>
            <a:r>
              <a:rPr lang="en-US" b="1" dirty="0"/>
              <a:t>raw data</a:t>
            </a:r>
            <a:r>
              <a:rPr lang="en-US" dirty="0"/>
              <a:t> from a popular open-source platform — the </a:t>
            </a:r>
            <a:r>
              <a:rPr lang="en-US" b="1" dirty="0" err="1"/>
              <a:t>TMDb</a:t>
            </a:r>
            <a:r>
              <a:rPr lang="en-US" b="1" dirty="0"/>
              <a:t> API</a:t>
            </a:r>
            <a:r>
              <a:rPr lang="en-US" dirty="0"/>
              <a:t> (The Movie Database).</a:t>
            </a:r>
          </a:p>
          <a:p>
            <a:r>
              <a:rPr lang="en-US" dirty="0"/>
              <a:t>It included information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Movie budgets and revenues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Genre and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Popularity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Cast and directors</a:t>
            </a:r>
          </a:p>
          <a:p>
            <a:r>
              <a:rPr lang="en-US" dirty="0"/>
              <a:t>At first, the data was messy.</a:t>
            </a:r>
            <a:br>
              <a:rPr lang="en-US" dirty="0"/>
            </a:br>
            <a:r>
              <a:rPr lang="en-US" dirty="0"/>
              <a:t>There were missing values, codes instead of readable names, and lots of extra noise.</a:t>
            </a:r>
          </a:p>
          <a:p>
            <a:r>
              <a:rPr lang="en-US" dirty="0"/>
              <a:t>After cleaning: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Missing information was filled.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Genres and languages were mapped into readable 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New features were created, like "Release Season" and "Franchise Status" — which turned out to be very useful for prediction.</a:t>
            </a:r>
          </a:p>
          <a:p>
            <a:r>
              <a:rPr lang="en-US" dirty="0"/>
              <a:t>This gave us a much richer, cleaner dataset to work with.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847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🔥 Most Interesting Findings (~5–8 minutes)</a:t>
            </a:r>
          </a:p>
          <a:p>
            <a:r>
              <a:rPr lang="en-US" dirty="0"/>
              <a:t>Now let’s talk about what we found — and which methods really mattered.</a:t>
            </a:r>
          </a:p>
          <a:p>
            <a:r>
              <a:rPr lang="en-US" b="1" dirty="0"/>
              <a:t>1. Visual Data Insights</a:t>
            </a:r>
          </a:p>
          <a:p>
            <a:r>
              <a:rPr lang="en-US" dirty="0"/>
              <a:t>Before modeling, we learned a few key things just by looking at the data: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Action, Adventure, and Thriller</a:t>
            </a:r>
            <a:r>
              <a:rPr lang="en-US" dirty="0"/>
              <a:t> movies dominate.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Franchises and Superhero</a:t>
            </a:r>
            <a:r>
              <a:rPr lang="en-US" dirty="0"/>
              <a:t> movies make the most money.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English-language</a:t>
            </a:r>
            <a:r>
              <a:rPr lang="en-US" dirty="0"/>
              <a:t> films dominate globally, but </a:t>
            </a:r>
            <a:r>
              <a:rPr lang="en-US" b="1" dirty="0"/>
              <a:t>non-English films</a:t>
            </a:r>
            <a:r>
              <a:rPr lang="en-US" dirty="0"/>
              <a:t> are growing — thanks to platforms like Netflix.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Popularity trends are rising fast, fueled by </a:t>
            </a:r>
            <a:r>
              <a:rPr lang="en-US" b="1" dirty="0"/>
              <a:t>streaming and social media</a:t>
            </a:r>
            <a:r>
              <a:rPr lang="en-US" dirty="0"/>
              <a:t>.</a:t>
            </a:r>
          </a:p>
          <a:p>
            <a:r>
              <a:rPr lang="en-US" dirty="0"/>
              <a:t>These trends helped guide how we built our models.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326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Now coming to modeling methods</a:t>
            </a:r>
          </a:p>
          <a:p>
            <a:r>
              <a:rPr lang="en-US" b="1" dirty="0"/>
              <a:t>K-Means Clustering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is:</a:t>
            </a:r>
            <a:br>
              <a:rPr lang="en-US" dirty="0"/>
            </a:br>
            <a:r>
              <a:rPr lang="en-US" dirty="0"/>
              <a:t>A model that groups similar movies together — without knowing anything beforehand.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br>
              <a:rPr lang="en-US" dirty="0"/>
            </a:br>
            <a:r>
              <a:rPr lang="en-US" dirty="0"/>
              <a:t>It looks at things like budget, revenue, and popularity, and automatically sorts movies into "natural" clusters based on how close they are in the data.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We grouped movies into clusters — without labels — purely based on their features like budget, revenue, and popularity.</a:t>
            </a:r>
          </a:p>
          <a:p>
            <a:r>
              <a:rPr lang="en-US" dirty="0"/>
              <a:t>We found </a:t>
            </a:r>
            <a:r>
              <a:rPr lang="en-US" b="1" dirty="0"/>
              <a:t>three natural movie groups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Low-budget, independent films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Mid-range performers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Blockbusters</a:t>
            </a:r>
          </a:p>
          <a:p>
            <a:r>
              <a:rPr lang="en-US" dirty="0"/>
              <a:t>This clustering helps segment movies early, even without knowing their box office outcome yet.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577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Association Rule Mining (ARM)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is:</a:t>
            </a:r>
            <a:br>
              <a:rPr lang="en-US" dirty="0"/>
            </a:br>
            <a:r>
              <a:rPr lang="en-US" dirty="0"/>
              <a:t>A method to find relationships between things that often happen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br>
              <a:rPr lang="en-US" dirty="0"/>
            </a:br>
            <a:r>
              <a:rPr lang="en-US" dirty="0"/>
              <a:t>If a movie is in English and produced in the USA, there’s a high chance it follows other similar patterns. We find "if this, then that" rules from the data.</a:t>
            </a:r>
          </a:p>
          <a:p>
            <a:endParaRPr lang="en-US" b="1" dirty="0"/>
          </a:p>
          <a:p>
            <a:r>
              <a:rPr lang="en-US" dirty="0"/>
              <a:t>We explored relationships like language and country.</a:t>
            </a:r>
          </a:p>
          <a:p>
            <a:r>
              <a:rPr lang="en-US" dirty="0"/>
              <a:t>One interesting pattern: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US-produced movies in English</a:t>
            </a:r>
            <a:r>
              <a:rPr lang="en-US" dirty="0"/>
              <a:t> dominate massively — no surprise.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</a:t>
            </a:r>
            <a:r>
              <a:rPr lang="en-US" b="1" dirty="0"/>
              <a:t>smaller countries/languages</a:t>
            </a:r>
            <a:r>
              <a:rPr lang="en-US" dirty="0"/>
              <a:t> showed patterns too, helping identify growing markets.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373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Naive Bayes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is:</a:t>
            </a:r>
            <a:br>
              <a:rPr lang="en-US" dirty="0"/>
            </a:br>
            <a:r>
              <a:rPr lang="en-US" dirty="0"/>
              <a:t>A simple model that predicts outcomes based on basic probabilities.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br>
              <a:rPr lang="en-US" dirty="0"/>
            </a:br>
            <a:r>
              <a:rPr lang="en-US" dirty="0"/>
              <a:t>It assumes all features work independently and makes a prediction based on which outcome is most likely. Like guessing weather only based on humidity.</a:t>
            </a:r>
          </a:p>
          <a:p>
            <a:endParaRPr lang="en-US" b="1" dirty="0"/>
          </a:p>
          <a:p>
            <a:r>
              <a:rPr lang="en-US" dirty="0"/>
              <a:t>We tested simple probability-based models.</a:t>
            </a:r>
          </a:p>
          <a:p>
            <a:r>
              <a:rPr lang="en-US" dirty="0"/>
              <a:t>While fast, Naive Bayes struggled with complex financial relationships.</a:t>
            </a:r>
            <a:br>
              <a:rPr lang="en-US" dirty="0"/>
            </a:br>
            <a:r>
              <a:rPr lang="en-US" dirty="0"/>
              <a:t>It achieved about </a:t>
            </a:r>
            <a:r>
              <a:rPr lang="en-US" b="1" dirty="0"/>
              <a:t>79% accuracy</a:t>
            </a:r>
            <a:r>
              <a:rPr lang="en-US" dirty="0"/>
              <a:t> — good, but not strong enough for serious financial predictions.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533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Decision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is:</a:t>
            </a:r>
            <a:br>
              <a:rPr lang="en-US" dirty="0"/>
            </a:br>
            <a:r>
              <a:rPr lang="en-US" dirty="0"/>
              <a:t>A series of decisions arranged like a flowchart — like a game of 20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br>
              <a:rPr lang="en-US" dirty="0"/>
            </a:br>
            <a:r>
              <a:rPr lang="en-US" dirty="0"/>
              <a:t>The model asks yes/no questions — "Is the budget high? Is it an action movie?" — and leads down a path to a final prediction.</a:t>
            </a:r>
          </a:p>
          <a:p>
            <a:endParaRPr lang="en-US" b="1" dirty="0"/>
          </a:p>
          <a:p>
            <a:r>
              <a:rPr lang="en-US" dirty="0"/>
              <a:t>We built rule-based trees to classify movie success.</a:t>
            </a:r>
          </a:p>
          <a:p>
            <a:r>
              <a:rPr lang="en-US" dirty="0"/>
              <a:t>They were very easy to explain ("If a movie has a high budget and a summer release, it’s likely a hit.")</a:t>
            </a:r>
            <a:br>
              <a:rPr lang="en-US" dirty="0"/>
            </a:br>
            <a:r>
              <a:rPr lang="en-US" dirty="0"/>
              <a:t>But without careful tuning, they tended to </a:t>
            </a:r>
            <a:r>
              <a:rPr lang="en-US" b="1" dirty="0"/>
              <a:t>overfit</a:t>
            </a:r>
            <a:r>
              <a:rPr lang="en-US" dirty="0"/>
              <a:t> — memorizing training data instead of generalizing.</a:t>
            </a:r>
          </a:p>
          <a:p>
            <a:r>
              <a:rPr lang="en-US" dirty="0"/>
              <a:t>Still, great for </a:t>
            </a:r>
            <a:r>
              <a:rPr lang="en-US" b="1" dirty="0"/>
              <a:t>visual explanation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72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Logistic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is:</a:t>
            </a:r>
            <a:br>
              <a:rPr lang="en-US" dirty="0"/>
            </a:br>
            <a:r>
              <a:rPr lang="en-US" dirty="0"/>
              <a:t>A method that predicts chances of success or failure.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br>
              <a:rPr lang="en-US" dirty="0"/>
            </a:br>
            <a:r>
              <a:rPr lang="en-US" dirty="0"/>
              <a:t>It draws a boundary line based on the data — one side of the line is a successful movie, the other side is not.</a:t>
            </a:r>
          </a:p>
          <a:p>
            <a:endParaRPr lang="en-US" dirty="0"/>
          </a:p>
          <a:p>
            <a:r>
              <a:rPr lang="en-US" dirty="0"/>
              <a:t>Logistic Regression performed very strongly.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About </a:t>
            </a:r>
            <a:r>
              <a:rPr lang="en-US" b="1" dirty="0"/>
              <a:t>95% accuracy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Fast, simple, and great at drawing clean decision boundaries.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Worked very well for predicting movie success vs failure.</a:t>
            </a:r>
          </a:p>
          <a:p>
            <a:r>
              <a:rPr lang="en-US" dirty="0"/>
              <a:t>It became one of our most reliable early models.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703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Support Vector Machines (SVM)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is:</a:t>
            </a:r>
            <a:br>
              <a:rPr lang="en-US" dirty="0"/>
            </a:br>
            <a:r>
              <a:rPr lang="en-US" dirty="0"/>
              <a:t>A model that tries to separate different groups of movies with the widest possible gap.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br>
              <a:rPr lang="en-US" dirty="0"/>
            </a:br>
            <a:r>
              <a:rPr lang="en-US" dirty="0"/>
              <a:t>It finds the best dividing line (or surface) between categories so that the groups are as far apart as possible.</a:t>
            </a:r>
          </a:p>
          <a:p>
            <a:endParaRPr lang="en-US" dirty="0"/>
          </a:p>
          <a:p>
            <a:r>
              <a:rPr lang="en-US" dirty="0"/>
              <a:t>SVM models created very </a:t>
            </a:r>
            <a:r>
              <a:rPr lang="en-US" b="1" dirty="0"/>
              <a:t>sharp separations</a:t>
            </a:r>
            <a:r>
              <a:rPr lang="en-US" dirty="0"/>
              <a:t> between movie categories.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Linear SVM</a:t>
            </a:r>
            <a:r>
              <a:rPr lang="en-US" dirty="0"/>
              <a:t> reached about </a:t>
            </a:r>
            <a:r>
              <a:rPr lang="en-US" b="1" dirty="0"/>
              <a:t>98% accuracy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was one of our most accurate methods — drawing very clean boundaries between blockbuster movies and the rest.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944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Ensemble Models (Random Forest, </a:t>
            </a:r>
            <a:r>
              <a:rPr lang="en-US" b="1" dirty="0" err="1"/>
              <a:t>XGBoost</a:t>
            </a:r>
            <a:r>
              <a:rPr lang="en-US" b="1" dirty="0"/>
              <a:t>, AdaBoost)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it is:</a:t>
            </a:r>
            <a:br>
              <a:rPr lang="en-US" dirty="0"/>
            </a:br>
            <a:r>
              <a:rPr lang="en-US" dirty="0"/>
              <a:t>Teamwork between lots of small models to make a much better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br>
              <a:rPr lang="en-US" dirty="0"/>
            </a:br>
            <a:r>
              <a:rPr lang="en-US" dirty="0"/>
              <a:t>Instead of relying on one decision tree, we build hundreds (Random Forest), or carefully fix mistakes step-by-step (</a:t>
            </a:r>
            <a:r>
              <a:rPr lang="en-US" dirty="0" err="1"/>
              <a:t>XGBoost</a:t>
            </a:r>
            <a:r>
              <a:rPr lang="en-US" dirty="0"/>
              <a:t> and AdaBoost).</a:t>
            </a:r>
            <a:br>
              <a:rPr lang="en-US" dirty="0"/>
            </a:br>
            <a:r>
              <a:rPr lang="en-US" dirty="0"/>
              <a:t>Then we combine their answers to get a stronger, more accurate result.</a:t>
            </a:r>
          </a:p>
          <a:p>
            <a:r>
              <a:rPr lang="en-US" b="1" dirty="0"/>
              <a:t>8. Ensemble Models (Random Forest, </a:t>
            </a:r>
            <a:r>
              <a:rPr lang="en-US" b="1" dirty="0" err="1"/>
              <a:t>XGBoost</a:t>
            </a:r>
            <a:r>
              <a:rPr lang="en-US" b="1" dirty="0"/>
              <a:t>, AdaBoost)</a:t>
            </a:r>
          </a:p>
          <a:p>
            <a:r>
              <a:rPr lang="en-US" dirty="0"/>
              <a:t>Finally, we combined multiple models together — an approach called </a:t>
            </a:r>
            <a:r>
              <a:rPr lang="en-US" b="1" dirty="0"/>
              <a:t>Ensemble Learning</a:t>
            </a:r>
            <a:r>
              <a:rPr lang="en-US" dirty="0"/>
              <a:t>.</a:t>
            </a:r>
          </a:p>
          <a:p>
            <a:r>
              <a:rPr lang="en-US" dirty="0"/>
              <a:t>The results were fantastic: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Random Forest</a:t>
            </a:r>
            <a:r>
              <a:rPr lang="en-US" dirty="0"/>
              <a:t>: Very high accuracy. With 95%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AdaBoost</a:t>
            </a:r>
            <a:r>
              <a:rPr lang="en-US" dirty="0"/>
              <a:t>: Strong, but a little sensitive to noise. With accuracy of 93%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XGBoost</a:t>
            </a:r>
            <a:r>
              <a:rPr lang="en-US" dirty="0"/>
              <a:t>: </a:t>
            </a:r>
            <a:r>
              <a:rPr lang="en-US" b="1" dirty="0"/>
              <a:t>99% accuracy</a:t>
            </a:r>
            <a:r>
              <a:rPr lang="en-US" dirty="0"/>
              <a:t> — the best model overall.</a:t>
            </a:r>
          </a:p>
          <a:p>
            <a:r>
              <a:rPr lang="en-US" dirty="0"/>
              <a:t>If a studio or streaming platform wants </a:t>
            </a:r>
            <a:r>
              <a:rPr lang="en-US" b="1" dirty="0"/>
              <a:t>the most accurate prediction possible</a:t>
            </a:r>
            <a:r>
              <a:rPr lang="en-US" dirty="0"/>
              <a:t>, </a:t>
            </a:r>
            <a:r>
              <a:rPr lang="en-US" dirty="0" err="1"/>
              <a:t>XGBoost</a:t>
            </a:r>
            <a:r>
              <a:rPr lang="en-US" dirty="0"/>
              <a:t> would be the ideal choice.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360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📢 Non-Technical Conclusions (~5 minutes)</a:t>
            </a:r>
          </a:p>
          <a:p>
            <a:r>
              <a:rPr lang="en-US" dirty="0"/>
              <a:t>So — what does all this mean without the technical jargon?</a:t>
            </a:r>
          </a:p>
          <a:p>
            <a:r>
              <a:rPr lang="en-US" b="1" dirty="0"/>
              <a:t>1. Success is Multidimensional.</a:t>
            </a:r>
            <a:r>
              <a:rPr lang="en-US" dirty="0"/>
              <a:t> It’s not just budget.</a:t>
            </a:r>
            <a:br>
              <a:rPr lang="en-US" dirty="0"/>
            </a:br>
            <a:r>
              <a:rPr lang="en-US" dirty="0"/>
              <a:t>Success comes from </a:t>
            </a:r>
            <a:r>
              <a:rPr lang="en-US" b="1" dirty="0"/>
              <a:t>smart storytelling</a:t>
            </a:r>
            <a:r>
              <a:rPr lang="en-US" dirty="0"/>
              <a:t>, </a:t>
            </a:r>
            <a:r>
              <a:rPr lang="en-US" b="1" dirty="0"/>
              <a:t>good timing</a:t>
            </a:r>
            <a:r>
              <a:rPr lang="en-US" dirty="0"/>
              <a:t>, </a:t>
            </a:r>
            <a:r>
              <a:rPr lang="en-US" b="1" dirty="0"/>
              <a:t>genre appeal</a:t>
            </a:r>
            <a:r>
              <a:rPr lang="en-US" dirty="0"/>
              <a:t>, and </a:t>
            </a:r>
            <a:r>
              <a:rPr lang="en-US" b="1" dirty="0"/>
              <a:t>audience buzz</a:t>
            </a:r>
            <a:r>
              <a:rPr lang="en-US" dirty="0"/>
              <a:t>.</a:t>
            </a:r>
          </a:p>
          <a:p>
            <a:r>
              <a:rPr lang="en-US" b="1" dirty="0"/>
              <a:t>2. Bigger Isn’t Always Better.</a:t>
            </a:r>
            <a:r>
              <a:rPr lang="en-US" dirty="0"/>
              <a:t> Having a huge budget does not guarantee a hit.</a:t>
            </a:r>
            <a:br>
              <a:rPr lang="en-US" dirty="0"/>
            </a:br>
            <a:r>
              <a:rPr lang="en-US" dirty="0"/>
              <a:t>Some modest-budget movies performed far better than expensive ones.</a:t>
            </a:r>
          </a:p>
          <a:p>
            <a:r>
              <a:rPr lang="en-US" b="1" dirty="0"/>
              <a:t>3. Early Prediction is Powerful.</a:t>
            </a:r>
            <a:r>
              <a:rPr lang="en-US" dirty="0"/>
              <a:t> If you can predict success early: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Studios can allocate budgets better.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Marketers can focus their promotions smarter.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Streaming services can pick winners before competitors.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Investors can lower their financial risks.</a:t>
            </a:r>
          </a:p>
          <a:p>
            <a:r>
              <a:rPr lang="en-US" b="1" dirty="0"/>
              <a:t>4. Future Potential is Exciting.</a:t>
            </a:r>
            <a:r>
              <a:rPr lang="en-US" dirty="0"/>
              <a:t> Imagine combining this model with </a:t>
            </a:r>
            <a:r>
              <a:rPr lang="en-US" b="1" dirty="0"/>
              <a:t>real-time data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Twitter buzz, YouTube trailer views, early critic scores.</a:t>
            </a:r>
          </a:p>
          <a:p>
            <a:r>
              <a:rPr lang="en-US" dirty="0"/>
              <a:t>The system could dynamically adjust predictions — almost like having a financial advisor for movies.</a:t>
            </a:r>
          </a:p>
          <a:p>
            <a:r>
              <a:rPr lang="en-US" b="1" dirty="0"/>
              <a:t>Final Thought:</a:t>
            </a:r>
            <a:endParaRPr lang="en-US" dirty="0"/>
          </a:p>
          <a:p>
            <a:r>
              <a:rPr lang="en-US" dirty="0"/>
              <a:t>Movies will always be an art form.</a:t>
            </a:r>
            <a:br>
              <a:rPr lang="en-US" dirty="0"/>
            </a:br>
            <a:r>
              <a:rPr lang="en-US" dirty="0"/>
              <a:t>But with the right data —</a:t>
            </a:r>
            <a:br>
              <a:rPr lang="en-US" dirty="0"/>
            </a:br>
            <a:r>
              <a:rPr lang="en-US" b="1" dirty="0"/>
              <a:t>we can make smarter art.</a:t>
            </a:r>
            <a:endParaRPr lang="en-US" dirty="0"/>
          </a:p>
          <a:p>
            <a:r>
              <a:rPr lang="en-US" dirty="0"/>
              <a:t>Thank you!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923E3-BC63-4C26-B35D-60ED04DB25E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295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888" b="-8888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/>
          <p:cNvGrpSpPr/>
          <p:nvPr/>
        </p:nvGrpSpPr>
        <p:grpSpPr>
          <a:xfrm>
            <a:off x="410424" y="2444606"/>
            <a:ext cx="309138" cy="288967"/>
            <a:chOff x="0" y="0"/>
            <a:chExt cx="123387" cy="1153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3387" cy="115336"/>
            </a:xfrm>
            <a:custGeom>
              <a:avLst/>
              <a:gdLst/>
              <a:ahLst/>
              <a:cxnLst/>
              <a:rect l="l" t="t" r="r" b="b"/>
              <a:pathLst>
                <a:path w="123387" h="115336">
                  <a:moveTo>
                    <a:pt x="0" y="0"/>
                  </a:moveTo>
                  <a:lnTo>
                    <a:pt x="123387" y="0"/>
                  </a:lnTo>
                  <a:lnTo>
                    <a:pt x="123387" y="115336"/>
                  </a:lnTo>
                  <a:lnTo>
                    <a:pt x="0" y="1153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3387" cy="153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9562" y="2155639"/>
            <a:ext cx="309138" cy="288967"/>
            <a:chOff x="0" y="0"/>
            <a:chExt cx="123387" cy="1153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3387" cy="115336"/>
            </a:xfrm>
            <a:custGeom>
              <a:avLst/>
              <a:gdLst/>
              <a:ahLst/>
              <a:cxnLst/>
              <a:rect l="l" t="t" r="r" b="b"/>
              <a:pathLst>
                <a:path w="123387" h="115336">
                  <a:moveTo>
                    <a:pt x="0" y="0"/>
                  </a:moveTo>
                  <a:lnTo>
                    <a:pt x="123387" y="0"/>
                  </a:lnTo>
                  <a:lnTo>
                    <a:pt x="123387" y="115336"/>
                  </a:lnTo>
                  <a:lnTo>
                    <a:pt x="0" y="1153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3387" cy="153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929904" y="6937777"/>
            <a:ext cx="288967" cy="288967"/>
            <a:chOff x="0" y="0"/>
            <a:chExt cx="115336" cy="1153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5336" cy="115336"/>
            </a:xfrm>
            <a:custGeom>
              <a:avLst/>
              <a:gdLst/>
              <a:ahLst/>
              <a:cxnLst/>
              <a:rect l="l" t="t" r="r" b="b"/>
              <a:pathLst>
                <a:path w="115336" h="115336">
                  <a:moveTo>
                    <a:pt x="0" y="0"/>
                  </a:moveTo>
                  <a:lnTo>
                    <a:pt x="115336" y="0"/>
                  </a:lnTo>
                  <a:lnTo>
                    <a:pt x="115336" y="115336"/>
                  </a:lnTo>
                  <a:lnTo>
                    <a:pt x="0" y="1153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5336" cy="153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218872" y="6648810"/>
            <a:ext cx="288967" cy="288967"/>
            <a:chOff x="0" y="0"/>
            <a:chExt cx="115336" cy="1153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5336" cy="115336"/>
            </a:xfrm>
            <a:custGeom>
              <a:avLst/>
              <a:gdLst/>
              <a:ahLst/>
              <a:cxnLst/>
              <a:rect l="l" t="t" r="r" b="b"/>
              <a:pathLst>
                <a:path w="115336" h="115336">
                  <a:moveTo>
                    <a:pt x="0" y="0"/>
                  </a:moveTo>
                  <a:lnTo>
                    <a:pt x="115336" y="0"/>
                  </a:lnTo>
                  <a:lnTo>
                    <a:pt x="115336" y="115336"/>
                  </a:lnTo>
                  <a:lnTo>
                    <a:pt x="0" y="1153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5336" cy="153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9523" y="3059739"/>
            <a:ext cx="17868954" cy="299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24"/>
              </a:lnSpc>
            </a:pPr>
            <a:r>
              <a:rPr lang="en-US" sz="5731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Predicting Movie Box Office Success with Data Science</a:t>
            </a:r>
          </a:p>
          <a:p>
            <a:pPr algn="ctr">
              <a:lnSpc>
                <a:spcPts val="8024"/>
              </a:lnSpc>
            </a:pPr>
            <a:endParaRPr lang="en-US" sz="5731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76290" y="5761715"/>
            <a:ext cx="1193542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Turning Creativity into Predictability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2707" y="2330458"/>
            <a:ext cx="4797510" cy="47975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40507" r="-9868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5674825" y="2052204"/>
            <a:ext cx="12189307" cy="2786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is the Film Industry Challenge?</a:t>
            </a:r>
          </a:p>
          <a:p>
            <a:pPr marL="561336" lvl="1" indent="-280668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Box office success is unpredictable.</a:t>
            </a:r>
          </a:p>
          <a:p>
            <a:pPr marL="561336" lvl="1" indent="-280668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Many factors: budget, cast, director, marketing, audience reception.</a:t>
            </a:r>
          </a:p>
          <a:p>
            <a:pPr marL="561336" lvl="1" indent="-280668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Even big-budget films sometimes fail; small movies sometimes win.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93281" y="4771910"/>
            <a:ext cx="11952395" cy="3936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10"/>
              </a:lnSpc>
            </a:pPr>
            <a:r>
              <a:rPr lang="en-US" sz="307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is Prediction Important?</a:t>
            </a:r>
          </a:p>
          <a:p>
            <a:pPr marL="578419" lvl="1" indent="-289209" algn="just">
              <a:lnSpc>
                <a:spcPts val="3750"/>
              </a:lnSpc>
              <a:buFont typeface="Arial"/>
              <a:buChar char="•"/>
            </a:pPr>
            <a:r>
              <a:rPr lang="en-US" sz="26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Helps studios, investors, and streaming platforms make better decisions.</a:t>
            </a:r>
          </a:p>
          <a:p>
            <a:pPr marL="578419" lvl="1" indent="-289209" algn="just">
              <a:lnSpc>
                <a:spcPts val="3750"/>
              </a:lnSpc>
              <a:buFont typeface="Arial"/>
              <a:buChar char="•"/>
            </a:pPr>
            <a:r>
              <a:rPr lang="en-US" sz="26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Reduces financial risk.</a:t>
            </a:r>
          </a:p>
          <a:p>
            <a:pPr algn="just">
              <a:lnSpc>
                <a:spcPts val="3750"/>
              </a:lnSpc>
            </a:pPr>
            <a:endParaRPr lang="en-US" sz="267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310"/>
              </a:lnSpc>
            </a:pPr>
            <a:r>
              <a:rPr lang="en-US" sz="307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Big Question:</a:t>
            </a:r>
          </a:p>
          <a:p>
            <a:pPr marL="578419" lvl="1" indent="-289209" algn="just">
              <a:lnSpc>
                <a:spcPts val="3750"/>
              </a:lnSpc>
              <a:buFont typeface="Arial"/>
              <a:buChar char="•"/>
            </a:pPr>
            <a:r>
              <a:rPr lang="en-US" sz="26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"Can we predict a movie’s success before it hits theaters?"</a:t>
            </a:r>
          </a:p>
          <a:p>
            <a:pPr algn="just">
              <a:lnSpc>
                <a:spcPts val="3750"/>
              </a:lnSpc>
              <a:spcBef>
                <a:spcPct val="0"/>
              </a:spcBef>
            </a:pPr>
            <a:endParaRPr lang="en-US" sz="267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795862" y="365125"/>
            <a:ext cx="637655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Introduction</a:t>
            </a:r>
          </a:p>
        </p:txBody>
      </p:sp>
      <p:sp>
        <p:nvSpPr>
          <p:cNvPr id="8" name="Freeform 8"/>
          <p:cNvSpPr/>
          <p:nvPr/>
        </p:nvSpPr>
        <p:spPr>
          <a:xfrm rot="-8771754">
            <a:off x="-2188736" y="6631469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722762" y="513246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762434" y="95628"/>
            <a:ext cx="10753606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7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Goals of the Research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2225" y="1937211"/>
            <a:ext cx="10634662" cy="164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Our Mission: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Predict a movie’s box office revenue before release.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12225" y="3712037"/>
            <a:ext cx="12685634" cy="218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Research Goals: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Find key factors that influence revenue.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Build models that predict success based on early information.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12225" y="6027247"/>
            <a:ext cx="15647075" cy="3213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Who Benefits?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Studios &amp; producers: Better budget planning.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Marketers: Smarter promotional strategies.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Streaming platforms: Smarter acquisitions.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Theaters: Better scheduling decisions.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722762" y="513246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745873" y="95628"/>
            <a:ext cx="14786729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6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Sources and Preparation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45873" y="1708363"/>
            <a:ext cx="9589175" cy="313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Where Our Data Came From: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TMDb</a:t>
            </a: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API (The Movie Database)</a:t>
            </a:r>
          </a:p>
          <a:p>
            <a:pPr marL="1295387" lvl="2" indent="-431796" algn="l">
              <a:lnSpc>
                <a:spcPts val="4199"/>
              </a:lnSpc>
              <a:spcBef>
                <a:spcPct val="0"/>
              </a:spcBef>
              <a:buFont typeface="Arial"/>
              <a:buChar char="⚬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Popular Movies</a:t>
            </a:r>
          </a:p>
          <a:p>
            <a:pPr marL="1295387" lvl="2" indent="-431796" algn="l">
              <a:lnSpc>
                <a:spcPts val="4199"/>
              </a:lnSpc>
              <a:spcBef>
                <a:spcPct val="0"/>
              </a:spcBef>
              <a:buFont typeface="Arial"/>
              <a:buChar char="⚬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Top-Rated Movies</a:t>
            </a:r>
          </a:p>
          <a:p>
            <a:pPr marL="1295387" lvl="2" indent="-431796" algn="l">
              <a:lnSpc>
                <a:spcPts val="4199"/>
              </a:lnSpc>
              <a:spcBef>
                <a:spcPct val="0"/>
              </a:spcBef>
              <a:buFont typeface="Arial"/>
              <a:buChar char="⚬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Genre, Language, Budget, Revenue details.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45873" y="4942800"/>
            <a:ext cx="14128195" cy="429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Data Cleaning Steps: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Filled missing values.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Mapped numeric codes to human-readable genres.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Created new useful features like release season, franchise status, etc.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Before vs After Cleaning: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Raw data: messy, missing info.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Clean data: consistent, enriched, ready for modeling.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5286" y="511235"/>
            <a:ext cx="9183542" cy="3845608"/>
          </a:xfrm>
          <a:custGeom>
            <a:avLst/>
            <a:gdLst/>
            <a:ahLst/>
            <a:cxnLst/>
            <a:rect l="l" t="t" r="r" b="b"/>
            <a:pathLst>
              <a:path w="9183542" h="3845608">
                <a:moveTo>
                  <a:pt x="0" y="0"/>
                </a:moveTo>
                <a:lnTo>
                  <a:pt x="9183542" y="0"/>
                </a:lnTo>
                <a:lnTo>
                  <a:pt x="9183542" y="3845608"/>
                </a:lnTo>
                <a:lnTo>
                  <a:pt x="0" y="384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225782" y="5661956"/>
            <a:ext cx="9537399" cy="4385387"/>
          </a:xfrm>
          <a:custGeom>
            <a:avLst/>
            <a:gdLst/>
            <a:ahLst/>
            <a:cxnLst/>
            <a:rect l="l" t="t" r="r" b="b"/>
            <a:pathLst>
              <a:path w="9537399" h="4385387">
                <a:moveTo>
                  <a:pt x="0" y="0"/>
                </a:moveTo>
                <a:lnTo>
                  <a:pt x="9537399" y="0"/>
                </a:lnTo>
                <a:lnTo>
                  <a:pt x="9537399" y="4385387"/>
                </a:lnTo>
                <a:lnTo>
                  <a:pt x="0" y="4385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59" b="-20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97268" y="4184441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625286" y="4290168"/>
            <a:ext cx="9183542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Raw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46057" y="1884015"/>
            <a:ext cx="5455119" cy="3115935"/>
          </a:xfrm>
          <a:custGeom>
            <a:avLst/>
            <a:gdLst/>
            <a:ahLst/>
            <a:cxnLst/>
            <a:rect l="l" t="t" r="r" b="b"/>
            <a:pathLst>
              <a:path w="5455119" h="3115935">
                <a:moveTo>
                  <a:pt x="0" y="0"/>
                </a:moveTo>
                <a:lnTo>
                  <a:pt x="5455119" y="0"/>
                </a:lnTo>
                <a:lnTo>
                  <a:pt x="5455119" y="3115935"/>
                </a:lnTo>
                <a:lnTo>
                  <a:pt x="0" y="3115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01176" y="6568769"/>
            <a:ext cx="5079969" cy="3115935"/>
          </a:xfrm>
          <a:custGeom>
            <a:avLst/>
            <a:gdLst/>
            <a:ahLst/>
            <a:cxnLst/>
            <a:rect l="l" t="t" r="r" b="b"/>
            <a:pathLst>
              <a:path w="5079969" h="3115935">
                <a:moveTo>
                  <a:pt x="0" y="0"/>
                </a:moveTo>
                <a:lnTo>
                  <a:pt x="5079969" y="0"/>
                </a:lnTo>
                <a:lnTo>
                  <a:pt x="5079969" y="3115935"/>
                </a:lnTo>
                <a:lnTo>
                  <a:pt x="0" y="3115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10841" y="5610618"/>
            <a:ext cx="4623843" cy="4074086"/>
          </a:xfrm>
          <a:custGeom>
            <a:avLst/>
            <a:gdLst/>
            <a:ahLst/>
            <a:cxnLst/>
            <a:rect l="l" t="t" r="r" b="b"/>
            <a:pathLst>
              <a:path w="4623843" h="4074086">
                <a:moveTo>
                  <a:pt x="0" y="0"/>
                </a:moveTo>
                <a:lnTo>
                  <a:pt x="4623843" y="0"/>
                </a:lnTo>
                <a:lnTo>
                  <a:pt x="4623843" y="4074086"/>
                </a:lnTo>
                <a:lnTo>
                  <a:pt x="0" y="4074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08204" y="1578681"/>
            <a:ext cx="5138601" cy="3726603"/>
          </a:xfrm>
          <a:custGeom>
            <a:avLst/>
            <a:gdLst/>
            <a:ahLst/>
            <a:cxnLst/>
            <a:rect l="l" t="t" r="r" b="b"/>
            <a:pathLst>
              <a:path w="5138601" h="3726603">
                <a:moveTo>
                  <a:pt x="0" y="0"/>
                </a:moveTo>
                <a:lnTo>
                  <a:pt x="5138601" y="0"/>
                </a:lnTo>
                <a:lnTo>
                  <a:pt x="5138601" y="3726603"/>
                </a:lnTo>
                <a:lnTo>
                  <a:pt x="0" y="37266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722762" y="513246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4212610" y="95628"/>
            <a:ext cx="9853256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6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Interesting Findings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5291" y="1688192"/>
            <a:ext cx="6423839" cy="8388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Visual Data Insights</a:t>
            </a:r>
          </a:p>
          <a:p>
            <a:pPr algn="l">
              <a:lnSpc>
                <a:spcPts val="4899"/>
              </a:lnSpc>
            </a:pPr>
            <a:endParaRPr lang="en-US" sz="3499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Popularity Trends: Movie buzz is growing — thanks to streaming and social media.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Top Genres: Action, Thriller, and Adventure movies dominate.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Top Earning Movies: Franchises and Superhero movies earn the most.</a:t>
            </a:r>
          </a:p>
          <a:p>
            <a:pPr marL="647694" lvl="1" indent="-323847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Language Trends: English movies lead globally; non-English growing via Netflix etc.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543314" y="1644489"/>
            <a:ext cx="8307126" cy="3925117"/>
          </a:xfrm>
          <a:custGeom>
            <a:avLst/>
            <a:gdLst/>
            <a:ahLst/>
            <a:cxnLst/>
            <a:rect l="l" t="t" r="r" b="b"/>
            <a:pathLst>
              <a:path w="8307126" h="3925117">
                <a:moveTo>
                  <a:pt x="0" y="0"/>
                </a:moveTo>
                <a:lnTo>
                  <a:pt x="8307126" y="0"/>
                </a:lnTo>
                <a:lnTo>
                  <a:pt x="8307126" y="3925117"/>
                </a:lnTo>
                <a:lnTo>
                  <a:pt x="0" y="3925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43314" y="5946843"/>
            <a:ext cx="3676531" cy="3876231"/>
          </a:xfrm>
          <a:custGeom>
            <a:avLst/>
            <a:gdLst/>
            <a:ahLst/>
            <a:cxnLst/>
            <a:rect l="l" t="t" r="r" b="b"/>
            <a:pathLst>
              <a:path w="3676531" h="3876231">
                <a:moveTo>
                  <a:pt x="0" y="0"/>
                </a:moveTo>
                <a:lnTo>
                  <a:pt x="3676531" y="0"/>
                </a:lnTo>
                <a:lnTo>
                  <a:pt x="3676531" y="3876231"/>
                </a:lnTo>
                <a:lnTo>
                  <a:pt x="0" y="3876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95160" y="5885808"/>
            <a:ext cx="4004242" cy="3998301"/>
          </a:xfrm>
          <a:custGeom>
            <a:avLst/>
            <a:gdLst/>
            <a:ahLst/>
            <a:cxnLst/>
            <a:rect l="l" t="t" r="r" b="b"/>
            <a:pathLst>
              <a:path w="4004242" h="3998301">
                <a:moveTo>
                  <a:pt x="0" y="0"/>
                </a:moveTo>
                <a:lnTo>
                  <a:pt x="4004241" y="0"/>
                </a:lnTo>
                <a:lnTo>
                  <a:pt x="4004241" y="3998301"/>
                </a:lnTo>
                <a:lnTo>
                  <a:pt x="0" y="39983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722762" y="513246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183904" y="95628"/>
            <a:ext cx="13910667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6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Modeling and Key Learnings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5291" y="1577814"/>
            <a:ext cx="7713561" cy="9195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We Tried: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Grouped movies using K-Means Clustering based on numerical features like budget, revenue, popularity, and profit.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Used PCA (Principal Component Analysis) to simplify the data while keeping most of its information.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Key Insight: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Identified 3 natural clusters in the data that reflect different types of movies (e.g., low-budget, mid-range, blockbuster).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The Silhouette method confirmed that 3 clusters gave the best separation.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Importance: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Useful for discovering hidden groupings in movies without needing labels.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Helps segment movies early in the analysis, and gives a foundation for targeted marketing or budgeting strategies.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980"/>
              </a:lnSpc>
              <a:spcBef>
                <a:spcPct val="0"/>
              </a:spcBef>
            </a:pPr>
            <a:endParaRPr lang="en-US" sz="21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5706" y="1717075"/>
            <a:ext cx="9850784" cy="4102102"/>
          </a:xfrm>
          <a:custGeom>
            <a:avLst/>
            <a:gdLst/>
            <a:ahLst/>
            <a:cxnLst/>
            <a:rect l="l" t="t" r="r" b="b"/>
            <a:pathLst>
              <a:path w="9850784" h="4102102">
                <a:moveTo>
                  <a:pt x="0" y="0"/>
                </a:moveTo>
                <a:lnTo>
                  <a:pt x="9850784" y="0"/>
                </a:lnTo>
                <a:lnTo>
                  <a:pt x="9850784" y="4102102"/>
                </a:lnTo>
                <a:lnTo>
                  <a:pt x="0" y="4102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82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91372" y="6101524"/>
            <a:ext cx="3620803" cy="3620803"/>
          </a:xfrm>
          <a:custGeom>
            <a:avLst/>
            <a:gdLst/>
            <a:ahLst/>
            <a:cxnLst/>
            <a:rect l="l" t="t" r="r" b="b"/>
            <a:pathLst>
              <a:path w="3620803" h="3620803">
                <a:moveTo>
                  <a:pt x="0" y="0"/>
                </a:moveTo>
                <a:lnTo>
                  <a:pt x="3620803" y="0"/>
                </a:lnTo>
                <a:lnTo>
                  <a:pt x="3620803" y="3620803"/>
                </a:lnTo>
                <a:lnTo>
                  <a:pt x="0" y="36208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40742" y="5962486"/>
            <a:ext cx="4275748" cy="3898880"/>
          </a:xfrm>
          <a:custGeom>
            <a:avLst/>
            <a:gdLst/>
            <a:ahLst/>
            <a:cxnLst/>
            <a:rect l="l" t="t" r="r" b="b"/>
            <a:pathLst>
              <a:path w="4275748" h="3898880">
                <a:moveTo>
                  <a:pt x="0" y="0"/>
                </a:moveTo>
                <a:lnTo>
                  <a:pt x="4275748" y="0"/>
                </a:lnTo>
                <a:lnTo>
                  <a:pt x="4275748" y="3898880"/>
                </a:lnTo>
                <a:lnTo>
                  <a:pt x="0" y="38988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18761" y="482990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978616" y="95628"/>
            <a:ext cx="2321242" cy="136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99859" y="1700506"/>
            <a:ext cx="7713561" cy="7557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We Tried: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Analyzed patterns like country-language links.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Key Insight: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Found strong US-English association.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Importance: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Early trends in language and location can hint at movie success.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980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149957" y="1706487"/>
            <a:ext cx="4390380" cy="3939314"/>
          </a:xfrm>
          <a:custGeom>
            <a:avLst/>
            <a:gdLst/>
            <a:ahLst/>
            <a:cxnLst/>
            <a:rect l="l" t="t" r="r" b="b"/>
            <a:pathLst>
              <a:path w="4390380" h="3939314">
                <a:moveTo>
                  <a:pt x="0" y="0"/>
                </a:moveTo>
                <a:lnTo>
                  <a:pt x="4390380" y="0"/>
                </a:lnTo>
                <a:lnTo>
                  <a:pt x="4390380" y="3939314"/>
                </a:lnTo>
                <a:lnTo>
                  <a:pt x="0" y="3939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648038" y="3303801"/>
            <a:ext cx="4185792" cy="3784313"/>
          </a:xfrm>
          <a:custGeom>
            <a:avLst/>
            <a:gdLst/>
            <a:ahLst/>
            <a:cxnLst/>
            <a:rect l="l" t="t" r="r" b="b"/>
            <a:pathLst>
              <a:path w="4185792" h="3784313">
                <a:moveTo>
                  <a:pt x="0" y="0"/>
                </a:moveTo>
                <a:lnTo>
                  <a:pt x="4185792" y="0"/>
                </a:lnTo>
                <a:lnTo>
                  <a:pt x="4185792" y="3784313"/>
                </a:lnTo>
                <a:lnTo>
                  <a:pt x="0" y="3784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351664" y="6539325"/>
            <a:ext cx="4315728" cy="3747675"/>
          </a:xfrm>
          <a:custGeom>
            <a:avLst/>
            <a:gdLst/>
            <a:ahLst/>
            <a:cxnLst/>
            <a:rect l="l" t="t" r="r" b="b"/>
            <a:pathLst>
              <a:path w="4315728" h="3747675">
                <a:moveTo>
                  <a:pt x="0" y="0"/>
                </a:moveTo>
                <a:lnTo>
                  <a:pt x="4315728" y="0"/>
                </a:lnTo>
                <a:lnTo>
                  <a:pt x="4315728" y="3747675"/>
                </a:lnTo>
                <a:lnTo>
                  <a:pt x="0" y="3747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18761" y="482990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123503" y="95628"/>
            <a:ext cx="6031468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6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Naive Bayes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5031" y="2015396"/>
            <a:ext cx="7713561" cy="860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We Tried: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Built simple probability models to predict movie categories.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Key Insight: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Worked okay (GaussianNB ~79% accuracy).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But not the best fit for movie financial data.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IImportance: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Quick models, but struggles with complex patterns.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980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0526" y="1843775"/>
            <a:ext cx="7744947" cy="3843430"/>
          </a:xfrm>
          <a:custGeom>
            <a:avLst/>
            <a:gdLst/>
            <a:ahLst/>
            <a:cxnLst/>
            <a:rect l="l" t="t" r="r" b="b"/>
            <a:pathLst>
              <a:path w="7744947" h="3843430">
                <a:moveTo>
                  <a:pt x="0" y="0"/>
                </a:moveTo>
                <a:lnTo>
                  <a:pt x="7744948" y="0"/>
                </a:lnTo>
                <a:lnTo>
                  <a:pt x="7744948" y="3843430"/>
                </a:lnTo>
                <a:lnTo>
                  <a:pt x="0" y="3843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8501" y="6290150"/>
            <a:ext cx="7875499" cy="3652263"/>
          </a:xfrm>
          <a:custGeom>
            <a:avLst/>
            <a:gdLst/>
            <a:ahLst/>
            <a:cxnLst/>
            <a:rect l="l" t="t" r="r" b="b"/>
            <a:pathLst>
              <a:path w="7875499" h="3652263">
                <a:moveTo>
                  <a:pt x="0" y="0"/>
                </a:moveTo>
                <a:lnTo>
                  <a:pt x="7875499" y="0"/>
                </a:lnTo>
                <a:lnTo>
                  <a:pt x="7875499" y="3652263"/>
                </a:lnTo>
                <a:lnTo>
                  <a:pt x="0" y="3652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18761" y="482990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5536644" y="95628"/>
            <a:ext cx="7205186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7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Trees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49148" y="1796150"/>
            <a:ext cx="7713561" cy="849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We Tried: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Created rule-based trees to classify movie success.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Key Insight: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Easy to understand how decisions are made.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Prone to overfitting without careful control.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Importance:</a:t>
            </a:r>
          </a:p>
          <a:p>
            <a:pPr marL="1252207" lvl="2" indent="-417402" algn="l">
              <a:lnSpc>
                <a:spcPts val="4059"/>
              </a:lnSpc>
              <a:spcBef>
                <a:spcPct val="0"/>
              </a:spcBef>
              <a:buFont typeface="Arial"/>
              <a:buChar char="⚬"/>
            </a:pPr>
            <a:r>
              <a:rPr lang="en-US" sz="28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Great for explaining "why" a movie might succeed or fail.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8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8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8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8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980"/>
              </a:lnSpc>
              <a:spcBef>
                <a:spcPct val="0"/>
              </a:spcBef>
            </a:pPr>
            <a:endParaRPr lang="en-US" sz="28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509557" y="6236356"/>
            <a:ext cx="4475041" cy="3772230"/>
          </a:xfrm>
          <a:custGeom>
            <a:avLst/>
            <a:gdLst/>
            <a:ahLst/>
            <a:cxnLst/>
            <a:rect l="l" t="t" r="r" b="b"/>
            <a:pathLst>
              <a:path w="4475041" h="3772230">
                <a:moveTo>
                  <a:pt x="0" y="0"/>
                </a:moveTo>
                <a:lnTo>
                  <a:pt x="4475041" y="0"/>
                </a:lnTo>
                <a:lnTo>
                  <a:pt x="4475041" y="3772229"/>
                </a:lnTo>
                <a:lnTo>
                  <a:pt x="0" y="3772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52651" y="1893413"/>
            <a:ext cx="6334100" cy="4022153"/>
          </a:xfrm>
          <a:custGeom>
            <a:avLst/>
            <a:gdLst/>
            <a:ahLst/>
            <a:cxnLst/>
            <a:rect l="l" t="t" r="r" b="b"/>
            <a:pathLst>
              <a:path w="6334100" h="4022153">
                <a:moveTo>
                  <a:pt x="0" y="0"/>
                </a:moveTo>
                <a:lnTo>
                  <a:pt x="6334099" y="0"/>
                </a:lnTo>
                <a:lnTo>
                  <a:pt x="6334099" y="4022154"/>
                </a:lnTo>
                <a:lnTo>
                  <a:pt x="0" y="40221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18761" y="482990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258210" y="95628"/>
            <a:ext cx="9762054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7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Logistic Regression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1430" y="1851123"/>
            <a:ext cx="7713561" cy="807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We Tried: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Modeled movie success vs failure using statistical relationships.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Key Insight: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Strong accuracy (~95%).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Very simple and effective model.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Importance: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 very good first prediction tool, great for fast decision-making.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980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34097" y="2230219"/>
            <a:ext cx="5093325" cy="3393428"/>
          </a:xfrm>
          <a:custGeom>
            <a:avLst/>
            <a:gdLst/>
            <a:ahLst/>
            <a:cxnLst/>
            <a:rect l="l" t="t" r="r" b="b"/>
            <a:pathLst>
              <a:path w="5093325" h="3393428">
                <a:moveTo>
                  <a:pt x="0" y="0"/>
                </a:moveTo>
                <a:lnTo>
                  <a:pt x="5093324" y="0"/>
                </a:lnTo>
                <a:lnTo>
                  <a:pt x="5093324" y="3393427"/>
                </a:lnTo>
                <a:lnTo>
                  <a:pt x="0" y="3393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240924" y="6249891"/>
            <a:ext cx="9583912" cy="3653866"/>
          </a:xfrm>
          <a:custGeom>
            <a:avLst/>
            <a:gdLst/>
            <a:ahLst/>
            <a:cxnLst/>
            <a:rect l="l" t="t" r="r" b="b"/>
            <a:pathLst>
              <a:path w="9583912" h="3653866">
                <a:moveTo>
                  <a:pt x="0" y="0"/>
                </a:moveTo>
                <a:lnTo>
                  <a:pt x="9583912" y="0"/>
                </a:lnTo>
                <a:lnTo>
                  <a:pt x="9583912" y="3653866"/>
                </a:lnTo>
                <a:lnTo>
                  <a:pt x="0" y="3653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32880" y="2230219"/>
            <a:ext cx="5077893" cy="3440273"/>
          </a:xfrm>
          <a:custGeom>
            <a:avLst/>
            <a:gdLst/>
            <a:ahLst/>
            <a:cxnLst/>
            <a:rect l="l" t="t" r="r" b="b"/>
            <a:pathLst>
              <a:path w="5077893" h="3440273">
                <a:moveTo>
                  <a:pt x="0" y="0"/>
                </a:moveTo>
                <a:lnTo>
                  <a:pt x="5077893" y="0"/>
                </a:lnTo>
                <a:lnTo>
                  <a:pt x="5077893" y="3440272"/>
                </a:lnTo>
                <a:lnTo>
                  <a:pt x="0" y="34402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18761" y="482990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251525" y="95628"/>
            <a:ext cx="15775424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7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 Vector Machines (SVM)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1089" y="2173069"/>
            <a:ext cx="7713561" cy="859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We Tried: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Separated movie types using mathematical hyperplanes.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Key Insight: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Linear SVM ~98% accuracy!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Created very clean separation between movie categories.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Importance: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Best at drawing strong boundaries for success prediction.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980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12191" y="2517144"/>
            <a:ext cx="4207251" cy="3733862"/>
          </a:xfrm>
          <a:custGeom>
            <a:avLst/>
            <a:gdLst/>
            <a:ahLst/>
            <a:cxnLst/>
            <a:rect l="l" t="t" r="r" b="b"/>
            <a:pathLst>
              <a:path w="4207251" h="3733862">
                <a:moveTo>
                  <a:pt x="0" y="0"/>
                </a:moveTo>
                <a:lnTo>
                  <a:pt x="4207252" y="0"/>
                </a:lnTo>
                <a:lnTo>
                  <a:pt x="4207252" y="3733862"/>
                </a:lnTo>
                <a:lnTo>
                  <a:pt x="0" y="373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410320" y="6840883"/>
            <a:ext cx="4848980" cy="2941850"/>
          </a:xfrm>
          <a:custGeom>
            <a:avLst/>
            <a:gdLst/>
            <a:ahLst/>
            <a:cxnLst/>
            <a:rect l="l" t="t" r="r" b="b"/>
            <a:pathLst>
              <a:path w="4848980" h="2941850">
                <a:moveTo>
                  <a:pt x="0" y="0"/>
                </a:moveTo>
                <a:lnTo>
                  <a:pt x="4848980" y="0"/>
                </a:lnTo>
                <a:lnTo>
                  <a:pt x="4848980" y="2941850"/>
                </a:lnTo>
                <a:lnTo>
                  <a:pt x="0" y="2941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18761" y="482990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0" y="124203"/>
            <a:ext cx="18278475" cy="2033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Ensemble Models (Random Forest, XGBoost, AdaBoost)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0918" y="2275676"/>
            <a:ext cx="7713561" cy="1008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We Tried: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Combined multiple models to get stronger predictions.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Key Insight: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XGBoost achieved 99% accuracy!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Very reliable and stable model for predicting movie revenue.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Importance: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Best performance overall — powerful model for studios and investors.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980"/>
              </a:lnSpc>
              <a:spcBef>
                <a:spcPct val="0"/>
              </a:spcBef>
            </a:pPr>
            <a:endParaRPr lang="en-US" sz="2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18761" y="482990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351210" y="95628"/>
            <a:ext cx="5576054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7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406894"/>
            <a:ext cx="17798901" cy="866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Success is Multidimensional: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Budget matters — but story, genre, timing, and audience buzz matter too.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Bigger Isn’t Always Better: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High budget ≠ guaranteed hit. Smart storytelling + right release time is key.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Predicting Early Helps Everyone: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Studios and streaming companies can plan better.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Investors can reduce risk.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Marketers can focus campaigns where it matters.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Future Potential: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Real-time sentiment analysis (Twitter, trailers).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Smarter marketing based on early buzz.</a:t>
            </a:r>
          </a:p>
          <a:p>
            <a:pPr marL="647693" lvl="1" indent="-323846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Dynamic adjustment of strategies as data comes in.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980"/>
              </a:lnSpc>
              <a:spcBef>
                <a:spcPct val="0"/>
              </a:spcBef>
            </a:pPr>
            <a:endParaRPr lang="en-US" sz="2999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71754">
            <a:off x="-1605211" y="6792834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1" y="0"/>
                </a:lnTo>
                <a:lnTo>
                  <a:pt x="7878261" y="4716453"/>
                </a:lnTo>
                <a:lnTo>
                  <a:pt x="0" y="4716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2552" y="-1412651"/>
            <a:ext cx="7878261" cy="4716452"/>
          </a:xfrm>
          <a:custGeom>
            <a:avLst/>
            <a:gdLst/>
            <a:ahLst/>
            <a:cxnLst/>
            <a:rect l="l" t="t" r="r" b="b"/>
            <a:pathLst>
              <a:path w="7878261" h="4716452">
                <a:moveTo>
                  <a:pt x="0" y="0"/>
                </a:moveTo>
                <a:lnTo>
                  <a:pt x="7878260" y="0"/>
                </a:lnTo>
                <a:lnTo>
                  <a:pt x="7878260" y="4716452"/>
                </a:lnTo>
                <a:lnTo>
                  <a:pt x="0" y="4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18761" y="4829903"/>
            <a:ext cx="952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074390" y="1737256"/>
            <a:ext cx="613922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8799" y="3728402"/>
            <a:ext cx="15135343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“Movies are art — but with the right data, we can make smarter art.”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2267</Words>
  <Application>Microsoft Office PowerPoint</Application>
  <PresentationFormat>Custom</PresentationFormat>
  <Paragraphs>282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Garet</vt:lpstr>
      <vt:lpstr>Calibri</vt:lpstr>
      <vt:lpstr>Arial</vt:lpstr>
      <vt:lpstr>Garet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Predicting Movie Box Office Success with Data Science</dc:title>
  <dc:creator>Admin</dc:creator>
  <cp:lastModifiedBy>Kartheek Brahmanapally</cp:lastModifiedBy>
  <cp:revision>8</cp:revision>
  <dcterms:created xsi:type="dcterms:W3CDTF">2006-08-16T00:00:00Z</dcterms:created>
  <dcterms:modified xsi:type="dcterms:W3CDTF">2025-04-29T04:58:30Z</dcterms:modified>
  <dc:identifier>DAGl-lroOSo</dc:identifier>
</cp:coreProperties>
</file>